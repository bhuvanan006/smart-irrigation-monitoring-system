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iYGlbGq5K4gtToeX0LTrGQt18O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8AB1908-4015-48AE-8AE1-7DF97042DE64}">
  <a:tblStyle styleId="{38AB1908-4015-48AE-8AE1-7DF97042DE6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" name="Google Shape;1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" name="Google Shape;3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57B0"/>
          </a:solidFill>
          <a:ln cap="flat" cmpd="sng" w="12700">
            <a:solidFill>
              <a:srgbClr val="155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3D7A"/>
          </a:solidFill>
          <a:ln cap="flat" cmpd="sng" w="12700">
            <a:solidFill>
              <a:srgbClr val="0D3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274320" y="44805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INSTITUTE OF TECHNOLOGY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365760" y="731520"/>
            <a:ext cx="53035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imes New Roman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IRRIGATION</a:t>
            </a:r>
            <a:endParaRPr b="0" i="0" sz="4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imes New Roman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MONITORING SYSTEM</a:t>
            </a:r>
            <a:endParaRPr b="0" i="0" sz="4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1280160"/>
            <a:ext cx="27432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cap="flat" cmpd="sng" w="12700">
            <a:solidFill>
              <a:srgbClr val="155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INSTITUTE OF TECHNOLOGY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" name="Google Shape;2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0" y="18288"/>
            <a:ext cx="685800" cy="5486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" name="Google Shape;25;p2"/>
          <p:cNvCxnSpPr/>
          <p:nvPr/>
        </p:nvCxnSpPr>
        <p:spPr>
          <a:xfrm>
            <a:off x="0" y="594360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2E75D4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26" name="Google Shape;26;p2"/>
          <p:cNvPicPr preferRelativeResize="0"/>
          <p:nvPr/>
        </p:nvPicPr>
        <p:blipFill rotWithShape="1">
          <a:blip r:embed="rId3">
            <a:alphaModFix amt="15000"/>
          </a:blip>
          <a:srcRect b="0" l="0" r="0" t="0"/>
          <a:stretch/>
        </p:blipFill>
        <p:spPr>
          <a:xfrm>
            <a:off x="5029200" y="1371600"/>
            <a:ext cx="36576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"/>
          <p:cNvSpPr/>
          <p:nvPr/>
        </p:nvSpPr>
        <p:spPr>
          <a:xfrm>
            <a:off x="274320" y="6858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Irrigation Monitoring System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274320" y="1417320"/>
            <a:ext cx="8046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600"/>
              <a:buFont typeface="Times New Roman"/>
              <a:buNone/>
            </a:pPr>
            <a:r>
              <a:rPr b="1" lang="en-US" sz="16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Objective: </a:t>
            </a:r>
            <a:r>
              <a:rPr lang="en-US" sz="16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automate irrigation using real-time soil and environmental data through IoT sensors.</a:t>
            </a:r>
            <a:endParaRPr sz="16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600"/>
              <a:buFont typeface="Times New Roman"/>
              <a:buNone/>
            </a:pPr>
            <a:r>
              <a:rPr lang="en-US" sz="16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600"/>
              <a:buFont typeface="Times New Roman"/>
              <a:buNone/>
            </a:pPr>
            <a:r>
              <a:rPr b="1" lang="en-US" sz="16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 </a:t>
            </a:r>
            <a:r>
              <a:rPr lang="en-US" sz="16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integrated system using ESP32, soil moisture sensor, DHT11, relay module, and Blynk IoT platform.</a:t>
            </a:r>
            <a:endParaRPr sz="16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600"/>
              <a:buFont typeface="Times New Roman"/>
              <a:buNone/>
            </a:pPr>
            <a:r>
              <a:rPr lang="en-US" sz="16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600"/>
              <a:buFont typeface="Times New Roman"/>
              <a:buNone/>
            </a:pPr>
            <a:r>
              <a:rPr b="1" lang="en-US" sz="16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Impact: </a:t>
            </a:r>
            <a:r>
              <a:rPr lang="en-US" sz="16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water wastage, eliminates manual monitoring, and promotes sustainable agriculture.</a:t>
            </a:r>
            <a:endParaRPr sz="16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cap="flat" cmpd="sng" w="12700">
            <a:solidFill>
              <a:srgbClr val="155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INSTITUTE OF TECHNOLOGY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" name="Google Shape;3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0" y="18288"/>
            <a:ext cx="685800" cy="5486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" name="Google Shape;38;p3"/>
          <p:cNvCxnSpPr/>
          <p:nvPr/>
        </p:nvCxnSpPr>
        <p:spPr>
          <a:xfrm>
            <a:off x="0" y="594360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2E75D4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39" name="Google Shape;39;p3"/>
          <p:cNvPicPr preferRelativeResize="0"/>
          <p:nvPr/>
        </p:nvPicPr>
        <p:blipFill rotWithShape="1">
          <a:blip r:embed="rId3">
            <a:alphaModFix amt="15000"/>
          </a:blip>
          <a:srcRect b="0" l="0" r="0" t="0"/>
          <a:stretch/>
        </p:blipFill>
        <p:spPr>
          <a:xfrm>
            <a:off x="5029200" y="1371600"/>
            <a:ext cx="36576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3"/>
          <p:cNvSpPr/>
          <p:nvPr/>
        </p:nvSpPr>
        <p:spPr>
          <a:xfrm>
            <a:off x="274320" y="6858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 Design Process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274320" y="1417320"/>
            <a:ext cx="320040" cy="320040"/>
          </a:xfrm>
          <a:prstGeom prst="rect">
            <a:avLst/>
          </a:prstGeom>
          <a:solidFill>
            <a:srgbClr val="1557B0"/>
          </a:solidFill>
          <a:ln cap="flat" cmpd="sng" w="12700">
            <a:solidFill>
              <a:srgbClr val="155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274320" y="14173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685800" y="14173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 Analysis</a:t>
            </a:r>
            <a:r>
              <a:rPr b="1" lang="en-US" sz="1300">
                <a:solidFill>
                  <a:srgbClr val="1557B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2926080" y="141732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00"/>
              <a:buFont typeface="Times New Roman"/>
              <a:buNone/>
            </a:pPr>
            <a:r>
              <a:rPr lang="en-US" sz="12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Identified need to replace manual irrigation with automated, sensor-based control for precision water management.</a:t>
            </a:r>
            <a:endParaRPr sz="12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274320" y="2286000"/>
            <a:ext cx="320040" cy="320040"/>
          </a:xfrm>
          <a:prstGeom prst="rect">
            <a:avLst/>
          </a:prstGeom>
          <a:solidFill>
            <a:srgbClr val="1557B0"/>
          </a:solidFill>
          <a:ln cap="flat" cmpd="sng" w="12700">
            <a:solidFill>
              <a:srgbClr val="155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274320" y="22860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685800" y="22860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Architecture: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2926080" y="228600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00"/>
              <a:buFont typeface="Times New Roman"/>
              <a:buNone/>
            </a:pPr>
            <a:r>
              <a:rPr lang="en-US" sz="12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Selected ESP32 microcontroller with Wi-Fi, soil moisture sensor, DHT11, relay module, and Blynk IoT platform.</a:t>
            </a:r>
            <a:endParaRPr sz="12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274320" y="3154680"/>
            <a:ext cx="320040" cy="320040"/>
          </a:xfrm>
          <a:prstGeom prst="rect">
            <a:avLst/>
          </a:prstGeom>
          <a:solidFill>
            <a:srgbClr val="1557B0"/>
          </a:solidFill>
          <a:ln cap="flat" cmpd="sng" w="12700">
            <a:solidFill>
              <a:srgbClr val="155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274320" y="31546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685800" y="315468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Assembly: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2926080" y="315468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00"/>
              <a:buFont typeface="Times New Roman"/>
              <a:buNone/>
            </a:pPr>
            <a:r>
              <a:rPr lang="en-US" sz="12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Procured and integrated ESP32, sensors, relay module, 12V pump, LCD display, and LEDs on breadboard.</a:t>
            </a:r>
            <a:endParaRPr sz="12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274320" y="4023360"/>
            <a:ext cx="320040" cy="320040"/>
          </a:xfrm>
          <a:prstGeom prst="rect">
            <a:avLst/>
          </a:prstGeom>
          <a:solidFill>
            <a:srgbClr val="1557B0"/>
          </a:solidFill>
          <a:ln cap="flat" cmpd="sng" w="12700">
            <a:solidFill>
              <a:srgbClr val="155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274320" y="40233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685800" y="40233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Development: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2926080" y="402336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200"/>
              <a:buFont typeface="Times New Roman"/>
              <a:buNone/>
            </a:pPr>
            <a:r>
              <a:rPr lang="en-US" sz="12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Programmed ESP32 using Arduino IDE with threshold-based irrigation control and Blynk cloud connectivity.</a:t>
            </a:r>
            <a:endParaRPr sz="12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cap="flat" cmpd="sng" w="12700">
            <a:solidFill>
              <a:srgbClr val="155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INSTITUTE OF TECHNOLOGY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" name="Google Shape;6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0" y="18288"/>
            <a:ext cx="685800" cy="5486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" name="Google Shape;66;p4"/>
          <p:cNvCxnSpPr/>
          <p:nvPr/>
        </p:nvCxnSpPr>
        <p:spPr>
          <a:xfrm>
            <a:off x="0" y="594360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2E75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4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 Table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8" name="Google Shape;68;p4"/>
          <p:cNvGraphicFramePr/>
          <p:nvPr/>
        </p:nvGraphicFramePr>
        <p:xfrm>
          <a:off x="27432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{38AB1908-4015-48AE-8AE1-7DF97042DE64}</a:tableStyleId>
              </a:tblPr>
              <a:tblGrid>
                <a:gridCol w="2011675"/>
                <a:gridCol w="3291850"/>
                <a:gridCol w="329185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Phase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Activity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Outcome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Soil Sensing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Moisture sensor reads soil water content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Analog signal sent to ESP32 for processing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 Processing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ESP32 compares reading with threshold value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Irrigation decision (ON/OFF) made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Pump Control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Relay module activated/deactivated by ESP32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Water pump switches ON or OFF automatically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 Display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LCD shows temp, humidity, moisture, motor status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Real-time local monitoring enabled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Remote Monitoring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ESP32 sends data to Blynk IoT cloud via Wi-Fi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Times New Roman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Remote control &amp; alerts via smartphone app</a:t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</a:tr>
            </a:tbl>
          </a:graphicData>
        </a:graphic>
      </p:graphicFrame>
      <p:sp>
        <p:nvSpPr>
          <p:cNvPr id="69" name="Google Shape;69;p4"/>
          <p:cNvSpPr/>
          <p:nvPr/>
        </p:nvSpPr>
        <p:spPr>
          <a:xfrm>
            <a:off x="274320" y="1325880"/>
            <a:ext cx="8595360" cy="502920"/>
          </a:xfrm>
          <a:prstGeom prst="rect">
            <a:avLst/>
          </a:prstGeom>
          <a:solidFill>
            <a:srgbClr val="1557B0"/>
          </a:solidFill>
          <a:ln cap="flat" cmpd="sng" w="12700">
            <a:solidFill>
              <a:srgbClr val="155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274320" y="132588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</a:pPr>
            <a:r>
              <a:rPr b="1" lang="en-US" sz="1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2286000" y="132588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</a:pPr>
            <a:r>
              <a:rPr b="1" lang="en-US" sz="1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Activity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5577840" y="132588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</a:pPr>
            <a:r>
              <a:rPr b="1" lang="en-US" sz="1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Outcome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cap="flat" cmpd="sng" w="12700">
            <a:solidFill>
              <a:srgbClr val="155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INSTITUTE OF TECHNOLOGY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1" name="Google Shape;8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0" y="18288"/>
            <a:ext cx="685800" cy="5486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" name="Google Shape;82;p5"/>
          <p:cNvCxnSpPr/>
          <p:nvPr/>
        </p:nvCxnSpPr>
        <p:spPr>
          <a:xfrm>
            <a:off x="0" y="594360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2E75D4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83" name="Google Shape;83;p5"/>
          <p:cNvPicPr preferRelativeResize="0"/>
          <p:nvPr/>
        </p:nvPicPr>
        <p:blipFill rotWithShape="1">
          <a:blip r:embed="rId3">
            <a:alphaModFix amt="15000"/>
          </a:blip>
          <a:srcRect b="0" l="0" r="0" t="0"/>
          <a:stretch/>
        </p:blipFill>
        <p:spPr>
          <a:xfrm>
            <a:off x="5029200" y="1371600"/>
            <a:ext cx="36576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5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 of Activities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274320" y="1371600"/>
            <a:ext cx="80467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Times New Roman"/>
              <a:buNone/>
            </a:pPr>
            <a:r>
              <a:rPr b="1" lang="en-US" sz="15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Field Visit: </a:t>
            </a:r>
            <a:r>
              <a:rPr lang="en-US" sz="15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Visited nearby agricultural farm to observe traditional irrigation problems and farmer challenges.</a:t>
            </a:r>
            <a:endParaRPr sz="15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Times New Roman"/>
              <a:buNone/>
            </a:pPr>
            <a:r>
              <a:rPr lang="en-US" sz="15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5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Times New Roman"/>
              <a:buNone/>
            </a:pPr>
            <a:r>
              <a:rPr b="1" lang="en-US" sz="15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Assembly: </a:t>
            </a:r>
            <a:r>
              <a:rPr lang="en-US" sz="15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Interfacing ESP32 with soil moisture sensor, DHT11, relay module, water pump, and LCD display.</a:t>
            </a:r>
            <a:endParaRPr sz="15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Times New Roman"/>
              <a:buNone/>
            </a:pPr>
            <a:r>
              <a:rPr lang="en-US" sz="15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5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Times New Roman"/>
              <a:buNone/>
            </a:pPr>
            <a:r>
              <a:rPr b="1" lang="en-US" sz="15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Development: </a:t>
            </a:r>
            <a:r>
              <a:rPr lang="en-US" sz="15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ESP32 using Arduino IDE with threshold logic and Blynk IoT cloud integration.</a:t>
            </a:r>
            <a:endParaRPr sz="15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Times New Roman"/>
              <a:buNone/>
            </a:pPr>
            <a:r>
              <a:rPr lang="en-US" sz="15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5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500"/>
              <a:buFont typeface="Times New Roman"/>
              <a:buNone/>
            </a:pPr>
            <a:r>
              <a:rPr b="1" lang="en-US" sz="15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Testing: </a:t>
            </a:r>
            <a:r>
              <a:rPr lang="en-US" sz="15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system with dry and wet soil samples to validate automatic pump control and sensor accuracy.</a:t>
            </a:r>
            <a:endParaRPr sz="15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cap="flat" cmpd="sng" w="12700">
            <a:solidFill>
              <a:srgbClr val="155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INSTITUTE OF TECHNOLOGY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4" name="Google Shape;9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0" y="18288"/>
            <a:ext cx="685800" cy="5486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" name="Google Shape;95;p6"/>
          <p:cNvCxnSpPr/>
          <p:nvPr/>
        </p:nvCxnSpPr>
        <p:spPr>
          <a:xfrm>
            <a:off x="0" y="594360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2E75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6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Activity Duration Table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7" name="Google Shape;97;p6"/>
          <p:cNvGraphicFramePr/>
          <p:nvPr/>
        </p:nvGraphicFramePr>
        <p:xfrm>
          <a:off x="45720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{38AB1908-4015-48AE-8AE1-7DF97042DE64}</a:tableStyleId>
              </a:tblPr>
              <a:tblGrid>
                <a:gridCol w="1371600"/>
                <a:gridCol w="5029200"/>
                <a:gridCol w="182880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Activity ID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Task Description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Duration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 Visit &amp; Requirement Gathering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Week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Hardware Procurement &amp; Assembly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Weeks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A3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Sensor Interfacing &amp; Circuit Wiring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Week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A4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Arduino IDE Programming &amp; Blynk Setup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Weeks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A5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System Integration Testing &amp; Calibration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Weeks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</a:tr>
            </a:tbl>
          </a:graphicData>
        </a:graphic>
      </p:graphicFrame>
      <p:sp>
        <p:nvSpPr>
          <p:cNvPr id="98" name="Google Shape;98;p6"/>
          <p:cNvSpPr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solidFill>
            <a:srgbClr val="1557B0"/>
          </a:solidFill>
          <a:ln cap="flat" cmpd="sng" w="12700">
            <a:solidFill>
              <a:srgbClr val="155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457200" y="132588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</a:pPr>
            <a:r>
              <a:rPr b="1" lang="en-US" sz="1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Activity ID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1828800" y="132588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</a:pPr>
            <a:r>
              <a:rPr b="1" lang="en-US" sz="1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 Description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6858000" y="132588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</a:pPr>
            <a:r>
              <a:rPr b="1" lang="en-US" sz="1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Duration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cap="flat" cmpd="sng" w="12700">
            <a:solidFill>
              <a:srgbClr val="155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INSTITUTE OF TECHNOLOGY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" name="Google Shape;11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0" y="18288"/>
            <a:ext cx="685800" cy="5486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" name="Google Shape;111;p7"/>
          <p:cNvCxnSpPr/>
          <p:nvPr/>
        </p:nvCxnSpPr>
        <p:spPr>
          <a:xfrm>
            <a:off x="0" y="594360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2E75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7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Activity Precedence Table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3" name="Google Shape;113;p7"/>
          <p:cNvGraphicFramePr/>
          <p:nvPr/>
        </p:nvGraphicFramePr>
        <p:xfrm>
          <a:off x="27432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{38AB1908-4015-48AE-8AE1-7DF97042DE64}</a:tableStyleId>
              </a:tblPr>
              <a:tblGrid>
                <a:gridCol w="2286000"/>
                <a:gridCol w="2286000"/>
                <a:gridCol w="4023350"/>
              </a:tblGrid>
              <a:tr h="640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Activity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Preceded By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Logic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Hardware Assembly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Field Visit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Design finalized after studying farm requirements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Circuit Wiring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Hardware Assembly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Sensors mounted onto assembled breadboard setup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Arduino Programming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Circuit Wiring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Code developed for the physical hardware setup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System Testing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Arduino Programming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Integration testing after software is complete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BCD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8FF"/>
                    </a:solidFill>
                  </a:tcPr>
                </a:tc>
              </a:tr>
            </a:tbl>
          </a:graphicData>
        </a:graphic>
      </p:graphicFrame>
      <p:sp>
        <p:nvSpPr>
          <p:cNvPr id="114" name="Google Shape;114;p7"/>
          <p:cNvSpPr/>
          <p:nvPr/>
        </p:nvSpPr>
        <p:spPr>
          <a:xfrm>
            <a:off x="274320" y="1325880"/>
            <a:ext cx="8595360" cy="640080"/>
          </a:xfrm>
          <a:prstGeom prst="rect">
            <a:avLst/>
          </a:prstGeom>
          <a:solidFill>
            <a:srgbClr val="1557B0"/>
          </a:solidFill>
          <a:ln cap="flat" cmpd="sng" w="12700">
            <a:solidFill>
              <a:srgbClr val="155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274320" y="132588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</a:pPr>
            <a:r>
              <a:rPr b="1" lang="en-US" sz="1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Activity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2560320" y="132588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</a:pPr>
            <a:r>
              <a:rPr b="1" lang="en-US" sz="1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Preceded By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4846320" y="1325880"/>
            <a:ext cx="4023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</a:pPr>
            <a:r>
              <a:rPr b="1" lang="en-US" sz="1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Logic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cap="flat" cmpd="sng" w="12700">
            <a:solidFill>
              <a:srgbClr val="155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INSTITUTE OF TECHNOLOGY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6" name="Google Shape;12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0" y="18288"/>
            <a:ext cx="685800" cy="5486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7" name="Google Shape;127;p8"/>
          <p:cNvCxnSpPr/>
          <p:nvPr/>
        </p:nvCxnSpPr>
        <p:spPr>
          <a:xfrm>
            <a:off x="0" y="594360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2E75D4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128" name="Google Shape;128;p8"/>
          <p:cNvPicPr preferRelativeResize="0"/>
          <p:nvPr/>
        </p:nvPicPr>
        <p:blipFill rotWithShape="1">
          <a:blip r:embed="rId3">
            <a:alphaModFix amt="15000"/>
          </a:blip>
          <a:srcRect b="0" l="0" r="0" t="0"/>
          <a:stretch/>
        </p:blipFill>
        <p:spPr>
          <a:xfrm>
            <a:off x="5029200" y="1371600"/>
            <a:ext cx="36576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8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Glossary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274320" y="137160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IoT (Internet of Things):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2880360" y="1371600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300"/>
              <a:buFont typeface="Times New Roman"/>
              <a:buNone/>
            </a:pPr>
            <a:r>
              <a:rPr lang="en-US" sz="13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of physical devices connected via internet for data exchange</a:t>
            </a:r>
            <a:r>
              <a:rPr lang="en-US" sz="13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274320" y="1984248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ESP32: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2880360" y="1984248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300"/>
              <a:buFont typeface="Times New Roman"/>
              <a:buNone/>
            </a:pPr>
            <a:r>
              <a:rPr lang="en-US" sz="13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Dual-core microcontroller with built-in Wi-Fi and Bluetooth for IoT applications.</a:t>
            </a:r>
            <a:endParaRPr sz="13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274320" y="2596896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Soil Moisture Sensor: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2880360" y="2596896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300"/>
              <a:buFont typeface="Times New Roman"/>
              <a:buNone/>
            </a:pPr>
            <a:r>
              <a:rPr lang="en-US" sz="13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Detects water content in soil using electrical conductivity between two probes.</a:t>
            </a:r>
            <a:endParaRPr sz="13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274320" y="3209544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DHT11: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2880360" y="3209544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300"/>
              <a:buFont typeface="Times New Roman"/>
              <a:buNone/>
            </a:pPr>
            <a:r>
              <a:rPr lang="en-US" sz="13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sensor measuring ambient temperature (0-50°C) and relative humidity (20-90%).</a:t>
            </a:r>
            <a:endParaRPr sz="13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274320" y="3822192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Relay Module: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2880360" y="3822192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300"/>
              <a:buFont typeface="Times New Roman"/>
              <a:buNone/>
            </a:pPr>
            <a:r>
              <a:rPr lang="en-US" sz="13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Electrically controlled switch allowing ESP32 to operate the high-power water pump.</a:t>
            </a:r>
            <a:endParaRPr sz="13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274320" y="443484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Blynk Platform: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2880360" y="4434840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300"/>
              <a:buFont typeface="Times New Roman"/>
              <a:buNone/>
            </a:pPr>
            <a:r>
              <a:rPr lang="en-US" sz="13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IoT cloud platform enabling real-time remote monitoring and control via smartphone</a:t>
            </a:r>
            <a:r>
              <a:rPr lang="en-US" sz="13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cap="flat" cmpd="sng" w="12700">
            <a:solidFill>
              <a:srgbClr val="155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INSTITUTE OF TECHNOLOGY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0" name="Google Shape;15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0" y="18288"/>
            <a:ext cx="685800" cy="5486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1" name="Google Shape;151;p9"/>
          <p:cNvCxnSpPr/>
          <p:nvPr/>
        </p:nvCxnSpPr>
        <p:spPr>
          <a:xfrm>
            <a:off x="0" y="594360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2E75D4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152" name="Google Shape;152;p9"/>
          <p:cNvPicPr preferRelativeResize="0"/>
          <p:nvPr/>
        </p:nvPicPr>
        <p:blipFill rotWithShape="1">
          <a:blip r:embed="rId3">
            <a:alphaModFix amt="15000"/>
          </a:blip>
          <a:srcRect b="0" l="0" r="0" t="0"/>
          <a:stretch/>
        </p:blipFill>
        <p:spPr>
          <a:xfrm>
            <a:off x="5029200" y="1371600"/>
            <a:ext cx="36576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9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Science Principles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274320" y="1417320"/>
            <a:ext cx="73152" cy="502920"/>
          </a:xfrm>
          <a:prstGeom prst="rect">
            <a:avLst/>
          </a:prstGeom>
          <a:solidFill>
            <a:srgbClr val="1557B0"/>
          </a:solidFill>
          <a:ln cap="flat" cmpd="sng" w="12700">
            <a:solidFill>
              <a:srgbClr val="155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457200" y="1371600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400"/>
              <a:buFont typeface="Times New Roman"/>
              <a:buNone/>
            </a:pPr>
            <a:r>
              <a:rPr b="1" lang="en-US" sz="1400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Electrical Conductivity: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3154680" y="1371600"/>
            <a:ext cx="5760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300"/>
              <a:buFont typeface="Times New Roman"/>
              <a:buNone/>
            </a:pPr>
            <a:r>
              <a:rPr lang="en-US" sz="13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Soil moisture is measured by passing current between two probes — wetter soil conducts more.</a:t>
            </a:r>
            <a:endParaRPr sz="13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274320" y="2304288"/>
            <a:ext cx="73152" cy="502920"/>
          </a:xfrm>
          <a:prstGeom prst="rect">
            <a:avLst/>
          </a:prstGeom>
          <a:solidFill>
            <a:srgbClr val="1557B0"/>
          </a:solidFill>
          <a:ln cap="flat" cmpd="sng" w="12700">
            <a:solidFill>
              <a:srgbClr val="155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457200" y="2258568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400"/>
              <a:buFont typeface="Times New Roman"/>
              <a:buNone/>
            </a:pPr>
            <a:r>
              <a:rPr b="1" lang="en-US" sz="1400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Closed-Loop Control: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3154680" y="2258568"/>
            <a:ext cx="5760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300"/>
              <a:buFont typeface="Times New Roman"/>
              <a:buNone/>
            </a:pPr>
            <a:r>
              <a:rPr lang="en-US" sz="13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continuously monitors soil and auto-adjusts pump state based on threshold feedback.</a:t>
            </a:r>
            <a:endParaRPr sz="13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274320" y="3191256"/>
            <a:ext cx="73152" cy="502920"/>
          </a:xfrm>
          <a:prstGeom prst="rect">
            <a:avLst/>
          </a:prstGeom>
          <a:solidFill>
            <a:srgbClr val="1557B0"/>
          </a:solidFill>
          <a:ln cap="flat" cmpd="sng" w="12700">
            <a:solidFill>
              <a:srgbClr val="155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457200" y="3145536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400"/>
              <a:buFont typeface="Times New Roman"/>
              <a:buNone/>
            </a:pPr>
            <a:r>
              <a:rPr b="1" lang="en-US" sz="1400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Signal Processing</a:t>
            </a:r>
            <a:r>
              <a:rPr b="1" lang="en-US" sz="1400">
                <a:solidFill>
                  <a:srgbClr val="1557B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3154680" y="3145536"/>
            <a:ext cx="5760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300"/>
              <a:buFont typeface="Times New Roman"/>
              <a:buNone/>
            </a:pPr>
            <a:r>
              <a:rPr lang="en-US" sz="13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DHT11 sends digital temperature/humidity signals processed by ESP32 for decision-making.</a:t>
            </a:r>
            <a:endParaRPr sz="13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274320" y="4078224"/>
            <a:ext cx="73152" cy="502920"/>
          </a:xfrm>
          <a:prstGeom prst="rect">
            <a:avLst/>
          </a:prstGeom>
          <a:solidFill>
            <a:srgbClr val="1557B0"/>
          </a:solidFill>
          <a:ln cap="flat" cmpd="sng" w="12700">
            <a:solidFill>
              <a:srgbClr val="155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457200" y="4032504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400"/>
              <a:buFont typeface="Times New Roman"/>
              <a:buNone/>
            </a:pPr>
            <a:r>
              <a:rPr b="1" lang="en-US" sz="1400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Wireless Communication: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3154680" y="4032504"/>
            <a:ext cx="5760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300"/>
              <a:buFont typeface="Times New Roman"/>
              <a:buNone/>
            </a:pPr>
            <a:r>
              <a:rPr lang="en-US" sz="13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ESP32 uses 802.11 Wi-Fi (TCP/IP) to transmit sensor data to Blynk cloud in real time.</a:t>
            </a:r>
            <a:endParaRPr sz="13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cap="flat" cmpd="sng" w="12700">
            <a:solidFill>
              <a:srgbClr val="155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INSTITUTE OF TECHNOLOGY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4" name="Google Shape;17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0" y="18288"/>
            <a:ext cx="685800" cy="5486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10"/>
          <p:cNvCxnSpPr/>
          <p:nvPr/>
        </p:nvCxnSpPr>
        <p:spPr>
          <a:xfrm>
            <a:off x="0" y="594360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2E75D4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176" name="Google Shape;176;p10"/>
          <p:cNvPicPr preferRelativeResize="0"/>
          <p:nvPr/>
        </p:nvPicPr>
        <p:blipFill rotWithShape="1">
          <a:blip r:embed="rId3">
            <a:alphaModFix amt="15000"/>
          </a:blip>
          <a:srcRect b="0" l="0" r="0" t="0"/>
          <a:stretch/>
        </p:blipFill>
        <p:spPr>
          <a:xfrm>
            <a:off x="5029200" y="1371600"/>
            <a:ext cx="36576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0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 Rules &amp; Laws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274325" y="1371600"/>
            <a:ext cx="84126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Times New Roman"/>
              <a:buNone/>
            </a:pPr>
            <a:r>
              <a:rPr b="1" lang="en-US" sz="14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Threshold Principle: </a:t>
            </a:r>
            <a:r>
              <a:rPr lang="en-US" sz="14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Irrigation triggers only when soil moisture falls below the predefined threshold value.</a:t>
            </a:r>
            <a:endParaRPr sz="14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Times New Roman"/>
              <a:buNone/>
            </a:pPr>
            <a:r>
              <a:rPr lang="en-US" sz="14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Times New Roman"/>
              <a:buNone/>
            </a:pPr>
            <a:r>
              <a:rPr b="1" lang="en-US" sz="14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Automation Rule: </a:t>
            </a:r>
            <a:r>
              <a:rPr lang="en-US" sz="14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 → Controller → Actuator flow ensures zero manual intervention required.</a:t>
            </a:r>
            <a:endParaRPr sz="14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Times New Roman"/>
              <a:buNone/>
            </a:pPr>
            <a:r>
              <a:rPr lang="en-US" sz="14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Times New Roman"/>
              <a:buNone/>
            </a:pPr>
            <a:r>
              <a:rPr b="1" lang="en-US" sz="14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Ohm's Law (Sensor Principle): </a:t>
            </a:r>
            <a:r>
              <a:rPr lang="en-US" sz="14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Soil resistance changes with moisture content; higher moisture = lower resistance = higher output.</a:t>
            </a:r>
            <a:endParaRPr sz="14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Times New Roman"/>
              <a:buNone/>
            </a:pPr>
            <a:r>
              <a:rPr lang="en-US" sz="14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Times New Roman"/>
              <a:buNone/>
            </a:pPr>
            <a:r>
              <a:rPr b="1" lang="en-US" sz="14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Feedback Control Law: </a:t>
            </a:r>
            <a:r>
              <a:rPr lang="en-US" sz="14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Pump is turned OFF automatically once moisture reaches the desired level — preventing over-irrigation.</a:t>
            </a:r>
            <a:endParaRPr sz="14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Times New Roman"/>
              <a:buNone/>
            </a:pPr>
            <a:r>
              <a:rPr lang="en-US" sz="14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Times New Roman"/>
              <a:buNone/>
            </a:pPr>
            <a:r>
              <a:rPr b="1" lang="en-US" sz="14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IoT Data Principle: </a:t>
            </a:r>
            <a:r>
              <a:rPr lang="en-US" sz="14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sensor data streams continuously to Blynk cloud for remote access and alerts.</a:t>
            </a:r>
            <a:endParaRPr sz="14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cap="flat" cmpd="sng" w="12700">
            <a:solidFill>
              <a:srgbClr val="155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1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INSTITUTE OF TECHNOLOGY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7" name="Google Shape;18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0" y="18288"/>
            <a:ext cx="685800" cy="5486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8" name="Google Shape;188;p11"/>
          <p:cNvCxnSpPr/>
          <p:nvPr/>
        </p:nvCxnSpPr>
        <p:spPr>
          <a:xfrm>
            <a:off x="0" y="594360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2E75D4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189" name="Google Shape;189;p11"/>
          <p:cNvPicPr preferRelativeResize="0"/>
          <p:nvPr/>
        </p:nvPicPr>
        <p:blipFill rotWithShape="1">
          <a:blip r:embed="rId3">
            <a:alphaModFix amt="15000"/>
          </a:blip>
          <a:srcRect b="0" l="0" r="0" t="0"/>
          <a:stretch/>
        </p:blipFill>
        <p:spPr>
          <a:xfrm>
            <a:off x="5029200" y="1371600"/>
            <a:ext cx="36576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1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Constants &amp; Variables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274320" y="1371600"/>
            <a:ext cx="3931920" cy="3291840"/>
          </a:xfrm>
          <a:prstGeom prst="rect">
            <a:avLst/>
          </a:prstGeom>
          <a:solidFill>
            <a:srgbClr val="EEF4FF"/>
          </a:solidFill>
          <a:ln cap="flat" cmpd="sng" w="19050">
            <a:solidFill>
              <a:srgbClr val="155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1"/>
          <p:cNvSpPr/>
          <p:nvPr/>
        </p:nvSpPr>
        <p:spPr>
          <a:xfrm>
            <a:off x="274320" y="1371600"/>
            <a:ext cx="3931920" cy="411480"/>
          </a:xfrm>
          <a:prstGeom prst="rect">
            <a:avLst/>
          </a:prstGeom>
          <a:solidFill>
            <a:srgbClr val="1557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</a:pPr>
            <a:r>
              <a:rPr b="1" lang="en-US" sz="1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CONSTANTS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457200" y="1920240"/>
            <a:ext cx="35661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3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ESP32 Clock Speed: 240 MHz</a:t>
            </a:r>
            <a:endParaRPr sz="13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300"/>
              <a:buFont typeface="Times New Roman"/>
              <a:buNone/>
            </a:pPr>
            <a:r>
              <a:rPr lang="en-US" sz="13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Soil Sensor Voltage: 3.3V – 5V</a:t>
            </a:r>
            <a:endParaRPr sz="13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300"/>
              <a:buFont typeface="Times New Roman"/>
              <a:buNone/>
            </a:pPr>
            <a:r>
              <a:rPr lang="en-US" sz="13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DHT11 Temp Range: 0°C – 50°C</a:t>
            </a:r>
            <a:endParaRPr sz="13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300"/>
              <a:buFont typeface="Times New Roman"/>
              <a:buNone/>
            </a:pPr>
            <a:r>
              <a:rPr lang="en-US" sz="13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Pump Voltage: 12V DC</a:t>
            </a:r>
            <a:endParaRPr sz="13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300"/>
              <a:buFont typeface="Times New Roman"/>
              <a:buNone/>
            </a:pPr>
            <a:r>
              <a:rPr lang="en-US" sz="13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LCD Rows × Cols: 2 × 16</a:t>
            </a:r>
            <a:endParaRPr sz="13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300"/>
              <a:buFont typeface="Times New Roman"/>
              <a:buNone/>
            </a:pPr>
            <a:r>
              <a:rPr lang="en-US" sz="13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Total Project Cost: ₹1,480</a:t>
            </a:r>
            <a:endParaRPr sz="13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4572000" y="1371600"/>
            <a:ext cx="4297680" cy="3291840"/>
          </a:xfrm>
          <a:prstGeom prst="rect">
            <a:avLst/>
          </a:prstGeom>
          <a:solidFill>
            <a:srgbClr val="EEF4FF"/>
          </a:solidFill>
          <a:ln cap="flat" cmpd="sng" w="19050">
            <a:solidFill>
              <a:srgbClr val="155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"/>
          <p:cNvSpPr/>
          <p:nvPr/>
        </p:nvSpPr>
        <p:spPr>
          <a:xfrm>
            <a:off x="4572000" y="1371600"/>
            <a:ext cx="4297680" cy="411480"/>
          </a:xfrm>
          <a:prstGeom prst="rect">
            <a:avLst/>
          </a:prstGeom>
          <a:solidFill>
            <a:srgbClr val="1557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imes New Roman"/>
              <a:buNone/>
            </a:pPr>
            <a:r>
              <a:rPr b="1" lang="en-US" sz="1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VARIABLES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4754880" y="1920240"/>
            <a:ext cx="393192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3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Soil Moisture Level (%): Varies by conditions</a:t>
            </a:r>
            <a:endParaRPr sz="13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300"/>
              <a:buFont typeface="Times New Roman"/>
              <a:buNone/>
            </a:pPr>
            <a:r>
              <a:rPr lang="en-US" sz="13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Temperature (°C): Real-time ambient reading</a:t>
            </a:r>
            <a:endParaRPr sz="13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300"/>
              <a:buFont typeface="Times New Roman"/>
              <a:buNone/>
            </a:pPr>
            <a:r>
              <a:rPr lang="en-US" sz="13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Humidity (%RH): Changes with environment</a:t>
            </a:r>
            <a:endParaRPr sz="13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300"/>
              <a:buFont typeface="Times New Roman"/>
              <a:buNone/>
            </a:pPr>
            <a:r>
              <a:rPr lang="en-US" sz="13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Pump State: ON / OFF based on moisture</a:t>
            </a:r>
            <a:endParaRPr sz="13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300"/>
              <a:buFont typeface="Times New Roman"/>
              <a:buNone/>
            </a:pPr>
            <a:r>
              <a:rPr lang="en-US" sz="13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Threshold Value: Set per crop/soil type</a:t>
            </a:r>
            <a:endParaRPr sz="13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cap="flat" cmpd="sng" w="12700">
            <a:solidFill>
              <a:srgbClr val="155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2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INSTITUTE OF TECHNOLOGY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5" name="Google Shape;20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0" y="18288"/>
            <a:ext cx="685800" cy="5486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6" name="Google Shape;206;p12"/>
          <p:cNvCxnSpPr/>
          <p:nvPr/>
        </p:nvCxnSpPr>
        <p:spPr>
          <a:xfrm>
            <a:off x="0" y="594360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2E75D4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207" name="Google Shape;207;p12"/>
          <p:cNvPicPr preferRelativeResize="0"/>
          <p:nvPr/>
        </p:nvPicPr>
        <p:blipFill rotWithShape="1">
          <a:blip r:embed="rId3">
            <a:alphaModFix amt="15000"/>
          </a:blip>
          <a:srcRect b="0" l="0" r="0" t="0"/>
          <a:stretch/>
        </p:blipFill>
        <p:spPr>
          <a:xfrm>
            <a:off x="5029200" y="1371600"/>
            <a:ext cx="36576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2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Equations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274320" y="1371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600"/>
              <a:buFont typeface="Times New Roman"/>
              <a:buNone/>
            </a:pPr>
            <a:r>
              <a:rPr b="1" lang="en-US" sz="1600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Logic Model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274320" y="1783080"/>
            <a:ext cx="8595360" cy="594360"/>
          </a:xfrm>
          <a:prstGeom prst="rect">
            <a:avLst/>
          </a:prstGeom>
          <a:solidFill>
            <a:srgbClr val="E8F0FE"/>
          </a:solidFill>
          <a:ln cap="flat" cmpd="sng" w="12700">
            <a:solidFill>
              <a:srgbClr val="155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"/>
          <p:cNvSpPr/>
          <p:nvPr/>
        </p:nvSpPr>
        <p:spPr>
          <a:xfrm>
            <a:off x="274320" y="1783080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3D7A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0D3D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Soil Sensor → ESP32 Processing → Threshold Check → Relay Control → Pump ON/OFF → Blynk Cloud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274320" y="2468880"/>
            <a:ext cx="82296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Times New Roman"/>
              <a:buNone/>
            </a:pPr>
            <a:r>
              <a:rPr b="1" lang="en-US" sz="14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Moisture Decision: </a:t>
            </a:r>
            <a:r>
              <a:rPr lang="en-US" sz="14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soilValue &gt; soilDry AND temp &gt; tempLimit AND humidity &lt; humLimit → PUMP ON</a:t>
            </a:r>
            <a:endParaRPr sz="14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Times New Roman"/>
              <a:buNone/>
            </a:pPr>
            <a:r>
              <a:rPr lang="en-US" sz="14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Times New Roman"/>
              <a:buNone/>
            </a:pPr>
            <a:r>
              <a:rPr b="1" lang="en-US" sz="14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Water Efficiency: </a:t>
            </a:r>
            <a:r>
              <a:rPr lang="en-US" sz="14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Water Saved (%) = [(Manual Usage − Auto Usage) / Manual Usage] × 100</a:t>
            </a:r>
            <a:endParaRPr sz="14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Times New Roman"/>
              <a:buNone/>
            </a:pPr>
            <a:r>
              <a:rPr lang="en-US" sz="14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Times New Roman"/>
              <a:buNone/>
            </a:pPr>
            <a:r>
              <a:rPr b="1" lang="en-US" sz="14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 Accuracy: </a:t>
            </a:r>
            <a:r>
              <a:rPr lang="en-US" sz="14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DHT11 Temp Accuracy = ±2°C | Humidity Accuracy = ±5% RH</a:t>
            </a:r>
            <a:endParaRPr sz="14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cap="flat" cmpd="sng" w="12700">
            <a:solidFill>
              <a:srgbClr val="155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3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INSTITUTE OF TECHNOLOGY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1" name="Google Shape;22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0" y="18288"/>
            <a:ext cx="685800" cy="5486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2" name="Google Shape;222;p13"/>
          <p:cNvCxnSpPr/>
          <p:nvPr/>
        </p:nvCxnSpPr>
        <p:spPr>
          <a:xfrm>
            <a:off x="0" y="594360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2E75D4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223" name="Google Shape;223;p13"/>
          <p:cNvPicPr preferRelativeResize="0"/>
          <p:nvPr/>
        </p:nvPicPr>
        <p:blipFill rotWithShape="1">
          <a:blip r:embed="rId3">
            <a:alphaModFix amt="15000"/>
          </a:blip>
          <a:srcRect b="0" l="0" r="0" t="0"/>
          <a:stretch/>
        </p:blipFill>
        <p:spPr>
          <a:xfrm>
            <a:off x="5029200" y="1371600"/>
            <a:ext cx="36576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3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557B0"/>
                </a:solidFill>
                <a:latin typeface="Calibri"/>
                <a:ea typeface="Calibri"/>
                <a:cs typeface="Calibri"/>
                <a:sym typeface="Calibri"/>
              </a:rPr>
              <a:t>What-If Analysis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274320" y="1371600"/>
            <a:ext cx="8595360" cy="749808"/>
          </a:xfrm>
          <a:prstGeom prst="rect">
            <a:avLst/>
          </a:prstGeom>
          <a:solidFill>
            <a:srgbClr val="EEF4FF"/>
          </a:solidFill>
          <a:ln cap="flat" cmpd="sng" w="9525">
            <a:solidFill>
              <a:srgbClr val="155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3"/>
          <p:cNvSpPr/>
          <p:nvPr/>
        </p:nvSpPr>
        <p:spPr>
          <a:xfrm>
            <a:off x="411480" y="140817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557B0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731520" y="1408176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3D7A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0D3D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if Wi-Fi disconnects?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731520" y="1755648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Times New Roman"/>
              <a:buNone/>
            </a:pPr>
            <a:r>
              <a:rPr lang="en-US" sz="12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System continues local operation; pump is controlled by ESP32 using threshold logic without Blynk.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274320" y="2267712"/>
            <a:ext cx="8595360" cy="749808"/>
          </a:xfrm>
          <a:prstGeom prst="rect">
            <a:avLst/>
          </a:prstGeom>
          <a:solidFill>
            <a:srgbClr val="F8FBFF"/>
          </a:solidFill>
          <a:ln cap="flat" cmpd="sng" w="9525">
            <a:solidFill>
              <a:srgbClr val="155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3"/>
          <p:cNvSpPr/>
          <p:nvPr/>
        </p:nvSpPr>
        <p:spPr>
          <a:xfrm>
            <a:off x="411480" y="230428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557B0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731520" y="2304288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3D7A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0D3D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if sensor gives wrong reading?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731520" y="2651760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Times New Roman"/>
              <a:buNone/>
            </a:pPr>
            <a:r>
              <a:rPr lang="en-US" sz="12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Threshold logic prevents extreme over/under-irrigation; sensor should be recalibrated periodically</a:t>
            </a:r>
            <a:r>
              <a:rPr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274320" y="3163824"/>
            <a:ext cx="8595360" cy="749808"/>
          </a:xfrm>
          <a:prstGeom prst="rect">
            <a:avLst/>
          </a:prstGeom>
          <a:solidFill>
            <a:srgbClr val="EEF4FF"/>
          </a:solidFill>
          <a:ln cap="flat" cmpd="sng" w="9525">
            <a:solidFill>
              <a:srgbClr val="155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3"/>
          <p:cNvSpPr/>
          <p:nvPr/>
        </p:nvSpPr>
        <p:spPr>
          <a:xfrm>
            <a:off x="411480" y="32004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557B0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731520" y="3200400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3D7A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0D3D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if power supply fails?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731520" y="3547872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Times New Roman"/>
              <a:buNone/>
            </a:pPr>
            <a:r>
              <a:rPr lang="en-US" sz="12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Pump stops automatically — preventing uncontrolled flooding; battery backup can be added.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274320" y="4059936"/>
            <a:ext cx="8595360" cy="749808"/>
          </a:xfrm>
          <a:prstGeom prst="rect">
            <a:avLst/>
          </a:prstGeom>
          <a:solidFill>
            <a:srgbClr val="F8FBFF"/>
          </a:solidFill>
          <a:ln cap="flat" cmpd="sng" w="9525">
            <a:solidFill>
              <a:srgbClr val="155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3"/>
          <p:cNvSpPr/>
          <p:nvPr/>
        </p:nvSpPr>
        <p:spPr>
          <a:xfrm>
            <a:off x="411480" y="409651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557B0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731520" y="4096512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3D7A"/>
              </a:buClr>
              <a:buSzPts val="1300"/>
              <a:buFont typeface="Times New Roman"/>
              <a:buNone/>
            </a:pPr>
            <a:r>
              <a:rPr b="1" lang="en-US" sz="1300">
                <a:solidFill>
                  <a:srgbClr val="0D3D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if soil type changes?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731520" y="4443984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Times New Roman"/>
              <a:buNone/>
            </a:pPr>
            <a:r>
              <a:rPr lang="en-US" sz="12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Threshold values in the code can be updated to suit different crops and soil moisture requirements.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4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57B0"/>
          </a:solidFill>
          <a:ln cap="flat" cmpd="sng" w="12700">
            <a:solidFill>
              <a:srgbClr val="155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4"/>
          <p:cNvSpPr/>
          <p:nvPr/>
        </p:nvSpPr>
        <p:spPr>
          <a:xfrm>
            <a:off x="182880" y="73152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KNOWLEDGE INSTITUTE OF TECHNOLOGY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9" name="Google Shape;24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0" y="18288"/>
            <a:ext cx="685800" cy="5486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0" name="Google Shape;250;p14"/>
          <p:cNvCxnSpPr/>
          <p:nvPr/>
        </p:nvCxnSpPr>
        <p:spPr>
          <a:xfrm>
            <a:off x="0" y="594360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2E75D4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251" name="Google Shape;251;p14"/>
          <p:cNvPicPr preferRelativeResize="0"/>
          <p:nvPr/>
        </p:nvPicPr>
        <p:blipFill rotWithShape="1">
          <a:blip r:embed="rId3">
            <a:alphaModFix amt="15000"/>
          </a:blip>
          <a:srcRect b="0" l="0" r="0" t="0"/>
          <a:stretch/>
        </p:blipFill>
        <p:spPr>
          <a:xfrm>
            <a:off x="5029200" y="1371600"/>
            <a:ext cx="36576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4"/>
          <p:cNvSpPr/>
          <p:nvPr/>
        </p:nvSpPr>
        <p:spPr>
          <a:xfrm>
            <a:off x="274320" y="6858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274320" y="1463040"/>
            <a:ext cx="73152" cy="548640"/>
          </a:xfrm>
          <a:prstGeom prst="rect">
            <a:avLst/>
          </a:prstGeom>
          <a:solidFill>
            <a:srgbClr val="1557B0"/>
          </a:solidFill>
          <a:ln cap="flat" cmpd="sng" w="12700">
            <a:solidFill>
              <a:srgbClr val="155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4"/>
          <p:cNvSpPr/>
          <p:nvPr/>
        </p:nvSpPr>
        <p:spPr>
          <a:xfrm>
            <a:off x="457200" y="1371600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500"/>
              <a:buFont typeface="Times New Roman"/>
              <a:buNone/>
            </a:pPr>
            <a:r>
              <a:rPr b="1" lang="en-US" sz="1500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Innovation: 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2514600" y="1371600"/>
            <a:ext cx="6309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Times New Roman"/>
              <a:buNone/>
            </a:pPr>
            <a:r>
              <a:rPr lang="en-US" sz="14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Successfully built a low-cost, automated, IoT-based smart irrigation prototype using ESP32 and sensors.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274320" y="2359152"/>
            <a:ext cx="73152" cy="548640"/>
          </a:xfrm>
          <a:prstGeom prst="rect">
            <a:avLst/>
          </a:prstGeom>
          <a:solidFill>
            <a:srgbClr val="1557B0"/>
          </a:solidFill>
          <a:ln cap="flat" cmpd="sng" w="12700">
            <a:solidFill>
              <a:srgbClr val="155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4"/>
          <p:cNvSpPr/>
          <p:nvPr/>
        </p:nvSpPr>
        <p:spPr>
          <a:xfrm>
            <a:off x="457200" y="2267712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500"/>
              <a:buFont typeface="Times New Roman"/>
              <a:buNone/>
            </a:pPr>
            <a:r>
              <a:rPr b="1" lang="en-US" sz="1500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Efficiency: 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2514600" y="2267712"/>
            <a:ext cx="6309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Times New Roman"/>
              <a:buNone/>
            </a:pPr>
            <a:r>
              <a:rPr lang="en-US" sz="14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 pump control based on real-time soil moisture eliminates over-irrigation and water wastage.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274320" y="3255264"/>
            <a:ext cx="73152" cy="548640"/>
          </a:xfrm>
          <a:prstGeom prst="rect">
            <a:avLst/>
          </a:prstGeom>
          <a:solidFill>
            <a:srgbClr val="1557B0"/>
          </a:solidFill>
          <a:ln cap="flat" cmpd="sng" w="12700">
            <a:solidFill>
              <a:srgbClr val="155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4"/>
          <p:cNvSpPr/>
          <p:nvPr/>
        </p:nvSpPr>
        <p:spPr>
          <a:xfrm>
            <a:off x="457200" y="3163824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500"/>
              <a:buFont typeface="Times New Roman"/>
              <a:buNone/>
            </a:pPr>
            <a:r>
              <a:rPr b="1" lang="en-US" sz="1500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Reliability: 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2514600" y="3163824"/>
            <a:ext cx="6309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Times New Roman"/>
              <a:buNone/>
            </a:pPr>
            <a:r>
              <a:rPr lang="en-US" sz="14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Closed-loop feedback mechanism with LED indicators and LCD display ensures dependable operation.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274320" y="4151376"/>
            <a:ext cx="73152" cy="548640"/>
          </a:xfrm>
          <a:prstGeom prst="rect">
            <a:avLst/>
          </a:prstGeom>
          <a:solidFill>
            <a:srgbClr val="1557B0"/>
          </a:solidFill>
          <a:ln cap="flat" cmpd="sng" w="12700">
            <a:solidFill>
              <a:srgbClr val="155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4"/>
          <p:cNvSpPr/>
          <p:nvPr/>
        </p:nvSpPr>
        <p:spPr>
          <a:xfrm>
            <a:off x="457200" y="4059936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57B0"/>
              </a:buClr>
              <a:buSzPts val="1500"/>
              <a:buFont typeface="Times New Roman"/>
              <a:buNone/>
            </a:pPr>
            <a:r>
              <a:rPr b="1" lang="en-US" sz="1500">
                <a:solidFill>
                  <a:srgbClr val="1557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Scope: 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2514600" y="4059936"/>
            <a:ext cx="6309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Times New Roman"/>
              <a:buNone/>
            </a:pPr>
            <a:r>
              <a:rPr lang="en-US" sz="14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of pH sensors, weather forecasting, AI-based prediction, and large-scale field deployment.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2026-03-27T11:02:24Z</dcterms:created>
  <dc:creator>PptxGenJS</dc:creator>
</cp:coreProperties>
</file>